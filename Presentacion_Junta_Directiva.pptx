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C04048"/>
                </a:solidFill>
              </a:defRPr>
            </a:pPr>
            <a:r>
              <a:t>Estrategia e Integración Tecnológica: Odoo POS + Profit Plus 2k12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Una inversión sostenible, escalable y protegida a largo plazo.</a:t>
            </a:r>
          </a:p>
          <a:p/>
          <a:p>
            <a:r>
              <a:t>Presentado a: Junta Directiva y Dueños de la Empresa.</a:t>
            </a:r>
          </a:p>
        </p:txBody>
      </p:sp>
      <p:pic>
        <p:nvPicPr>
          <p:cNvPr id="4" name="Picture 3" descr="photo-179146139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572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04048"/>
                </a:solidFill>
              </a:defRPr>
            </a:pPr>
            <a:r>
              <a:t>La Estrategia General (El Modelo Híbrido)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Profit Plus 2k12 (Core Administrativo/Fiscal): </a:t>
            </a:r>
            <a:r>
              <a:t>El motor central probado, robusto y adaptado a las normativas legales y contables.</a:t>
            </a:r>
          </a:p>
          <a:p>
            <a:r>
              <a:rPr b="1"/>
              <a:t>Odoo POS (Punto de Venta Dinámico): </a:t>
            </a:r>
            <a:r>
              <a:t>La interfaz moderna, rápida e intuitiva para la atención y cobro al cliente.</a:t>
            </a:r>
          </a:p>
          <a:p>
            <a:r>
              <a:rPr b="1"/>
              <a:t>Protección de la Inversión: </a:t>
            </a:r>
            <a:r>
              <a:t>Combinación de plataformas consolidadas con abundante personal técnico y operativo en el mercado laboral (sin dependencia de proveedores únicos).</a:t>
            </a:r>
          </a:p>
        </p:txBody>
      </p:sp>
      <p:pic>
        <p:nvPicPr>
          <p:cNvPr id="4" name="Picture 3" descr="photo-179146139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04048"/>
                </a:solidFill>
              </a:defRPr>
            </a:pPr>
            <a:r>
              <a:t>Eficiencia Financiera y Licenciamiento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Licencias Ilimitadas: </a:t>
            </a:r>
            <a:r>
              <a:t>Esquema multiempresa y multiusuario sin restricción de número de cajeros o administrativos.</a:t>
            </a:r>
          </a:p>
          <a:p>
            <a:r>
              <a:rPr b="1"/>
              <a:t>Crecimiento a Bajo Costo: </a:t>
            </a:r>
            <a:r>
              <a:t>Apertura de nuevas sucursales o empresas del grupo sin pagar licencias adicionales por usuario.</a:t>
            </a:r>
          </a:p>
          <a:p>
            <a:r>
              <a:rPr b="1"/>
              <a:t>Retorno de Inversión (ROI): </a:t>
            </a:r>
            <a:r>
              <a:t>Dilución del costo fijo a medida que aumenta el volumen de ventas y operaciones.</a:t>
            </a:r>
          </a:p>
        </p:txBody>
      </p:sp>
      <p:pic>
        <p:nvPicPr>
          <p:cNvPr id="4" name="Picture 3" descr="photo-179146139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04048"/>
                </a:solidFill>
              </a:defRPr>
            </a:pPr>
            <a:r>
              <a:t>Claves Operativas y Control Comercial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Continuidad Operativa (Modo Offline): </a:t>
            </a:r>
            <a:r>
              <a:t>Si se cae el internet o la red local, las cajas siguen vendiendo y se sincronizan al restablecer la conexión.</a:t>
            </a:r>
          </a:p>
          <a:p>
            <a:r>
              <a:rPr b="1"/>
              <a:t>Realidad Nacional y Pagos: </a:t>
            </a:r>
            <a:r>
              <a:t>Integración con puntos de venta bancarios, Cashea, tasa de cambio dinámica por documento y registro exacto de vueltos por Pago Móvil.</a:t>
            </a:r>
          </a:p>
          <a:p>
            <a:r>
              <a:rPr b="1"/>
              <a:t>Gestión de Inventario Especializada:</a:t>
            </a:r>
          </a:p>
          <a:p>
            <a:pPr lvl="1"/>
            <a:r>
              <a:rPr b="0" i="1"/>
              <a:t>Restaurantes: </a:t>
            </a:r>
            <a:r>
              <a:t>Descargo automático de recetas e ingredientes.</a:t>
            </a:r>
          </a:p>
          <a:p>
            <a:pPr lvl="1"/>
            <a:r>
              <a:rPr b="0" i="1"/>
              <a:t>Farmacias: </a:t>
            </a:r>
            <a:r>
              <a:t>Control de lotes, vencimientos, fraccionamiento (caja/blíster) y principios activos.</a:t>
            </a:r>
          </a:p>
        </p:txBody>
      </p:sp>
      <p:pic>
        <p:nvPicPr>
          <p:cNvPr id="4" name="Picture 3" descr="photo-179146139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04048"/>
                </a:solidFill>
              </a:defRPr>
            </a:pPr>
            <a:r>
              <a:t>Control, Auditoría y Prevención de Fraude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Cero Texto Libre: </a:t>
            </a:r>
            <a:r>
              <a:t>Clasificación obligatoria mediante listas desplegables en caja chica, gastos y compras.</a:t>
            </a:r>
          </a:p>
          <a:p>
            <a:r>
              <a:rPr b="1"/>
              <a:t>Trazabilidad 100%: </a:t>
            </a:r>
            <a:r>
              <a:t>Mapeo de cajeros reales (sin usuarios genéricos) y código único por transacción (Correlation ID).</a:t>
            </a:r>
          </a:p>
          <a:p>
            <a:r>
              <a:rPr b="1"/>
              <a:t>Integración Segura (Middleware): </a:t>
            </a:r>
            <a:r>
              <a:t>Comunicación cifrada sin alteraciones manuales en las bases de datos.</a:t>
            </a:r>
          </a:p>
        </p:txBody>
      </p:sp>
      <p:pic>
        <p:nvPicPr>
          <p:cNvPr id="4" name="Picture 3" descr="photo-179146139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04048"/>
                </a:solidFill>
              </a:defRPr>
            </a:pPr>
            <a:r>
              <a:t>Modelo de Gobierno y Estructura de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Director de Sistemas (Estrategia y Orquestación): </a:t>
            </a:r>
            <a:r>
              <a:t>Supervisa el puente de integración, la seguridad de la información y la evolución del sistema.</a:t>
            </a:r>
          </a:p>
          <a:p>
            <a:r>
              <a:rPr b="1"/>
              <a:t>Asistentes In-Situ (Soporte Directo): </a:t>
            </a:r>
            <a:r>
              <a:t>Atención inmediata en sucursales para asegurar que el punto de venta nunca se detenga.</a:t>
            </a:r>
          </a:p>
        </p:txBody>
      </p:sp>
      <p:pic>
        <p:nvPicPr>
          <p:cNvPr id="4" name="Picture 3" descr="photo-179146139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04048"/>
                </a:solidFill>
              </a:defRPr>
            </a:pPr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Inversión Definitiva: </a:t>
            </a:r>
            <a:r>
              <a:t>Solución sólida que combina la mejor tecnología del mercado con bajo riesgo operativo.</a:t>
            </a:r>
          </a:p>
          <a:p>
            <a:r>
              <a:rPr b="1"/>
              <a:t>Control Total: </a:t>
            </a:r>
            <a:r>
              <a:t>Garantía de resguardo patrimonial, trazabilidad de inventarios y flujo de caja transparente.</a:t>
            </a:r>
          </a:p>
        </p:txBody>
      </p:sp>
      <p:pic>
        <p:nvPicPr>
          <p:cNvPr id="4" name="Picture 3" descr="photo-1791461391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